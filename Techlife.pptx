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3DF507-579B-4A03-A763-5D9714965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8401B2AB-6D51-4D75-88DD-7C9AE6A91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C83EE253-833E-4593-B29E-5B5D5777A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6282A95B-9383-4295-B8F9-3F3FFD0F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06872028-26F7-49E4-AB03-1D7807DA0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08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D156DE4-1FBE-4EE4-A05B-F58F3A86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69FDF6B-0AE0-4E43-9FA9-257D87344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2D8A2480-AE8C-4073-BCF2-6009B35C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F056608A-AFE0-4272-A634-F9E46CE6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C69F591E-DB8B-4D42-86DF-0EBA29C0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9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52FD8B2-2AF6-44CC-BA63-8D2B3BA9B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9CEB96C7-A8CB-438E-8906-51271B1F2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4A8F03E-5A15-4B84-AD2B-01923B64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9D64603D-141F-4D23-948C-993E2C46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1DE1BD3C-C7DC-4633-8F79-9A562137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9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8ED2B4F-6B89-4422-89BD-D1713950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26C37447-377F-450F-A754-0E7B007FE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C1294000-696C-4B4C-A75D-9222DDA21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08FFD4E6-0FA1-4418-B1D2-6E22AD24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136F527F-8575-4B72-94DE-F8940409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1360E81B-D99A-4A0F-9D35-01667B1A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7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681EBCD-21A9-4C41-B778-F3086206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C04A7E77-40E9-4396-BE6C-AD8CFE95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42BF0E6B-2F98-4216-AEEB-28AA99D40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717C5AAA-6EA3-45EF-AC8C-52590D985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>
            <a:extLst>
              <a:ext uri="{FF2B5EF4-FFF2-40B4-BE49-F238E27FC236}">
                <a16:creationId xmlns:a16="http://schemas.microsoft.com/office/drawing/2014/main" id="{E58B32E8-C2C7-4B6A-9557-42E761D98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7" name="Контейнер за дата 6">
            <a:extLst>
              <a:ext uri="{FF2B5EF4-FFF2-40B4-BE49-F238E27FC236}">
                <a16:creationId xmlns:a16="http://schemas.microsoft.com/office/drawing/2014/main" id="{231D4CC7-8A98-4AE1-9C92-7799516B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8" name="Контейнер за долния колонтитул 7">
            <a:extLst>
              <a:ext uri="{FF2B5EF4-FFF2-40B4-BE49-F238E27FC236}">
                <a16:creationId xmlns:a16="http://schemas.microsoft.com/office/drawing/2014/main" id="{91D72FAB-DD75-492C-996B-B5039F09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Контейнер за номер на слайда 8">
            <a:extLst>
              <a:ext uri="{FF2B5EF4-FFF2-40B4-BE49-F238E27FC236}">
                <a16:creationId xmlns:a16="http://schemas.microsoft.com/office/drawing/2014/main" id="{F159EBF4-384A-423E-A5C7-4F2BB1CA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1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41DF29A-E2A5-4CCB-BB4B-90C6303E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65714D1A-BC64-4201-A36B-3E4E9129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Контейнер за долния колонтитул 3">
            <a:extLst>
              <a:ext uri="{FF2B5EF4-FFF2-40B4-BE49-F238E27FC236}">
                <a16:creationId xmlns:a16="http://schemas.microsoft.com/office/drawing/2014/main" id="{041965B1-9E34-4A46-A4AA-ABC1C3D7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Контейнер за номер на слайда 4">
            <a:extLst>
              <a:ext uri="{FF2B5EF4-FFF2-40B4-BE49-F238E27FC236}">
                <a16:creationId xmlns:a16="http://schemas.microsoft.com/office/drawing/2014/main" id="{B7BA1C44-E34E-492D-897D-5AB9E618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03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>
            <a:extLst>
              <a:ext uri="{FF2B5EF4-FFF2-40B4-BE49-F238E27FC236}">
                <a16:creationId xmlns:a16="http://schemas.microsoft.com/office/drawing/2014/main" id="{E751490F-9BEA-466D-888B-BAD09DA7E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3" name="Контейнер за долния колонтитул 2">
            <a:extLst>
              <a:ext uri="{FF2B5EF4-FFF2-40B4-BE49-F238E27FC236}">
                <a16:creationId xmlns:a16="http://schemas.microsoft.com/office/drawing/2014/main" id="{181E3016-8662-47B1-BFC7-03F1720A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Контейнер за номер на слайда 3">
            <a:extLst>
              <a:ext uri="{FF2B5EF4-FFF2-40B4-BE49-F238E27FC236}">
                <a16:creationId xmlns:a16="http://schemas.microsoft.com/office/drawing/2014/main" id="{D55F0F52-9FE1-44C5-B7FD-AB20405E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5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DCC9E1A-B335-4B6B-8510-840C5473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B044CEE-D8CA-450A-9790-BD0A9EA80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EC94BD55-E384-41EC-82AB-CD5E0F24C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E1D9898A-631F-4C13-8518-BBB70D50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54EF522E-9FD7-4B5A-BE8F-8B7470F4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4916891A-17BF-4B17-8966-44F05505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2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037197C-4FEE-4231-A7EC-2CD18F252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id="{F68C0BF0-6EEE-4EC9-AC04-618117E4A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6BB2ABD9-1598-410C-899B-AF996908E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307B20A1-C9DD-4B6A-ADF5-50AD84D1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FCF25D1F-7A3C-4245-B939-D0A9F3D3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081494AA-39E2-4481-8EB2-E8ECE94F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7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C20C7FA-43FC-4289-B653-EB5C0330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5F124E37-A428-4427-90D9-57FE0AEDA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6CCC67E2-EE52-4221-ADDB-E82B8CEB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DB44F4DF-D8E6-4D99-A3BE-5D0716C0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A269F111-8AFD-40F4-8DC4-05280EEA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18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>
            <a:extLst>
              <a:ext uri="{FF2B5EF4-FFF2-40B4-BE49-F238E27FC236}">
                <a16:creationId xmlns:a16="http://schemas.microsoft.com/office/drawing/2014/main" id="{C9046007-6820-4632-B0EE-9A982411B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ED2299D7-04E5-4BD0-B08F-30C3E6ABB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9F929B1D-F7B8-472F-ABF8-9D713824C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6AC06314-855C-4847-BAF7-A4C346E83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57E06518-94A4-4C22-A400-5E8D00F4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51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>
            <a:extLst>
              <a:ext uri="{FF2B5EF4-FFF2-40B4-BE49-F238E27FC236}">
                <a16:creationId xmlns:a16="http://schemas.microsoft.com/office/drawing/2014/main" id="{F3629A78-93BD-400B-812B-58C1B4BF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939254F7-0C2C-4D63-89AF-44E479936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03A57F75-ACAC-4493-86D5-7153D3EA5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F1AEA-8952-4923-884F-DE5BCC60046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D28A4784-6A05-485C-BDEC-575F461A5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0F0849A4-7798-48A1-AB23-9C5BB92CB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2A564-6935-4838-9E8E-15EF40F5A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2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gif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0AB225BA-7412-4605-8E8D-5AED2BF56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Какво е изкуствен интелект (AI) – FinTV">
            <a:extLst>
              <a:ext uri="{FF2B5EF4-FFF2-40B4-BE49-F238E27FC236}">
                <a16:creationId xmlns:a16="http://schemas.microsoft.com/office/drawing/2014/main" id="{6E95FDE4-C785-4B84-84D2-CC5AC693BD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604BB9CD-970D-4FE5-B4E3-D651735BF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27000"/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254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75BBEB9B-1030-4B67-BCCF-3110B8413A08}"/>
              </a:ext>
            </a:extLst>
          </p:cNvPr>
          <p:cNvSpPr txBox="1"/>
          <p:nvPr/>
        </p:nvSpPr>
        <p:spPr>
          <a:xfrm>
            <a:off x="1112520" y="2152955"/>
            <a:ext cx="9966960" cy="2552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TECHLIFE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E0D6276-8D53-4DDA-A15A-90E0831F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1955749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0C150C7-96FB-4EB9-BDF9-212535A60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808342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38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B65E49-5337-40E3-9DBD-146D14EA0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2"/>
            <a:ext cx="12192000" cy="452261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59509F-94DC-4952-A3B5-1EFAA2F52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68276" y="5"/>
            <a:ext cx="4023722" cy="4522603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1AF2CB-1EFE-4962-A8DC-2D3CE4736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7200" y="-5"/>
            <a:ext cx="11743606" cy="4513113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32531E-9E20-48D1-A119-C05304D9E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807" y="-9506"/>
            <a:ext cx="12200801" cy="4532114"/>
          </a:xfrm>
          <a:prstGeom prst="rect">
            <a:avLst/>
          </a:prstGeom>
          <a:gradFill>
            <a:gsLst>
              <a:gs pos="0">
                <a:srgbClr val="000000">
                  <a:alpha val="51000"/>
                </a:srgbClr>
              </a:gs>
              <a:gs pos="74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AA014B-79A8-4BEC-893F-42318288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679585"/>
          </a:xfrm>
          <a:prstGeom prst="rect">
            <a:avLst/>
          </a:prstGeom>
          <a:gradFill>
            <a:gsLst>
              <a:gs pos="20000">
                <a:schemeClr val="accent1">
                  <a:alpha val="9000"/>
                </a:schemeClr>
              </a:gs>
              <a:gs pos="100000">
                <a:srgbClr val="000000">
                  <a:alpha val="67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D483C156-5E49-4AB8-9BCC-676B21B2D401}"/>
              </a:ext>
            </a:extLst>
          </p:cNvPr>
          <p:cNvSpPr txBox="1"/>
          <p:nvPr/>
        </p:nvSpPr>
        <p:spPr>
          <a:xfrm>
            <a:off x="1371598" y="533514"/>
            <a:ext cx="9617105" cy="19996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dirty="0">
                <a:latin typeface="+mj-lt"/>
                <a:ea typeface="+mj-ea"/>
                <a:cs typeface="+mj-cs"/>
              </a:rPr>
              <a:t>НАШИЯТ ОТБОР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25D72BC3-176D-44BC-BDFF-948E949276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" b="2"/>
          <a:stretch/>
        </p:blipFill>
        <p:spPr>
          <a:xfrm>
            <a:off x="898211" y="3579621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8DF8C968-6AEC-4EC1-9E4C-C7883E2D38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" b="2"/>
          <a:stretch/>
        </p:blipFill>
        <p:spPr>
          <a:xfrm>
            <a:off x="3594811" y="3579621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384015BD-18B2-4728-9278-C45EDE3CF2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" b="2"/>
          <a:stretch/>
        </p:blipFill>
        <p:spPr>
          <a:xfrm>
            <a:off x="6294809" y="3579621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A8CFD22B-6FFB-42EE-B701-7923D1EF650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" b="2"/>
          <a:stretch/>
        </p:blipFill>
        <p:spPr>
          <a:xfrm>
            <a:off x="9051869" y="3579621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72525FCF-53DC-49B3-BD83-F5B7E1F32C8C}"/>
              </a:ext>
            </a:extLst>
          </p:cNvPr>
          <p:cNvSpPr txBox="1"/>
          <p:nvPr/>
        </p:nvSpPr>
        <p:spPr>
          <a:xfrm>
            <a:off x="708991" y="6112120"/>
            <a:ext cx="29984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latin typeface="+mj-lt"/>
                <a:ea typeface="+mj-ea"/>
                <a:cs typeface="+mj-cs"/>
              </a:rPr>
              <a:t>Application designer</a:t>
            </a:r>
          </a:p>
        </p:txBody>
      </p:sp>
      <p:sp>
        <p:nvSpPr>
          <p:cNvPr id="24" name="Текстово поле 23">
            <a:extLst>
              <a:ext uri="{FF2B5EF4-FFF2-40B4-BE49-F238E27FC236}">
                <a16:creationId xmlns:a16="http://schemas.microsoft.com/office/drawing/2014/main" id="{C84B4ED1-B12F-4C45-A027-A19FBCF21795}"/>
              </a:ext>
            </a:extLst>
          </p:cNvPr>
          <p:cNvSpPr txBox="1"/>
          <p:nvPr/>
        </p:nvSpPr>
        <p:spPr>
          <a:xfrm>
            <a:off x="4233910" y="6112120"/>
            <a:ext cx="29984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latin typeface="+mj-lt"/>
                <a:ea typeface="+mj-ea"/>
                <a:cs typeface="+mj-cs"/>
              </a:rPr>
              <a:t>Leader</a:t>
            </a:r>
          </a:p>
        </p:txBody>
      </p:sp>
      <p:sp>
        <p:nvSpPr>
          <p:cNvPr id="25" name="Текстово поле 24">
            <a:extLst>
              <a:ext uri="{FF2B5EF4-FFF2-40B4-BE49-F238E27FC236}">
                <a16:creationId xmlns:a16="http://schemas.microsoft.com/office/drawing/2014/main" id="{08832F24-B93A-4968-B287-6B2258444F32}"/>
              </a:ext>
            </a:extLst>
          </p:cNvPr>
          <p:cNvSpPr txBox="1"/>
          <p:nvPr/>
        </p:nvSpPr>
        <p:spPr>
          <a:xfrm>
            <a:off x="5937043" y="6112120"/>
            <a:ext cx="29984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latin typeface="+mj-lt"/>
                <a:ea typeface="+mj-ea"/>
                <a:cs typeface="+mj-cs"/>
              </a:rPr>
              <a:t>Data machine learning</a:t>
            </a:r>
          </a:p>
        </p:txBody>
      </p:sp>
      <p:sp>
        <p:nvSpPr>
          <p:cNvPr id="26" name="Текстово поле 25">
            <a:extLst>
              <a:ext uri="{FF2B5EF4-FFF2-40B4-BE49-F238E27FC236}">
                <a16:creationId xmlns:a16="http://schemas.microsoft.com/office/drawing/2014/main" id="{15FC7D10-FBA6-4B08-BB7C-E10DECE968D2}"/>
              </a:ext>
            </a:extLst>
          </p:cNvPr>
          <p:cNvSpPr txBox="1"/>
          <p:nvPr/>
        </p:nvSpPr>
        <p:spPr>
          <a:xfrm>
            <a:off x="8935506" y="6093653"/>
            <a:ext cx="610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Deep learning designer</a:t>
            </a:r>
          </a:p>
        </p:txBody>
      </p:sp>
    </p:spTree>
    <p:extLst>
      <p:ext uri="{BB962C8B-B14F-4D97-AF65-F5344CB8AC3E}">
        <p14:creationId xmlns:p14="http://schemas.microsoft.com/office/powerpoint/2010/main" val="357559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Medical Hospital Icon Abstract Background, Blue Gradient Illustration..  Stock Photo, Picture And Royalty Free Image. Image 69804106.">
            <a:extLst>
              <a:ext uri="{FF2B5EF4-FFF2-40B4-BE49-F238E27FC236}">
                <a16:creationId xmlns:a16="http://schemas.microsoft.com/office/drawing/2014/main" id="{B5183E41-88AD-466F-B5FB-CE3B5D099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The Political Correctness of 'People of Colour' – Political Animal Magazine">
            <a:extLst>
              <a:ext uri="{FF2B5EF4-FFF2-40B4-BE49-F238E27FC236}">
                <a16:creationId xmlns:a16="http://schemas.microsoft.com/office/drawing/2014/main" id="{DB817E65-2C20-4A51-9244-53D824506141}"/>
              </a:ext>
            </a:extLst>
          </p:cNvPr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500" l="3125" r="97396">
                        <a14:foregroundMark x1="3333" y1="45000" x2="44375" y2="61719"/>
                        <a14:foregroundMark x1="44375" y1="61719" x2="70729" y2="62500"/>
                        <a14:foregroundMark x1="70729" y1="62500" x2="74063" y2="69531"/>
                        <a14:foregroundMark x1="14792" y1="66406" x2="36667" y2="69531"/>
                        <a14:foregroundMark x1="36667" y1="69531" x2="45208" y2="68438"/>
                        <a14:foregroundMark x1="45208" y1="68438" x2="53958" y2="62500"/>
                        <a14:foregroundMark x1="16979" y1="53906" x2="13229" y2="67344"/>
                        <a14:foregroundMark x1="13229" y1="67344" x2="21042" y2="74063"/>
                        <a14:foregroundMark x1="21042" y1="74063" x2="34271" y2="73906"/>
                        <a14:foregroundMark x1="34271" y1="73906" x2="46042" y2="68281"/>
                        <a14:foregroundMark x1="46042" y1="68281" x2="44271" y2="55781"/>
                        <a14:foregroundMark x1="44271" y1="55781" x2="29271" y2="44063"/>
                        <a14:foregroundMark x1="29271" y1="44063" x2="13125" y2="46406"/>
                        <a14:foregroundMark x1="13125" y1="46406" x2="5833" y2="60156"/>
                        <a14:foregroundMark x1="5833" y1="60156" x2="13854" y2="78594"/>
                        <a14:foregroundMark x1="13854" y1="78594" x2="45625" y2="86563"/>
                        <a14:foregroundMark x1="45625" y1="86563" x2="72083" y2="80781"/>
                        <a14:foregroundMark x1="72083" y1="80781" x2="81667" y2="72188"/>
                        <a14:foregroundMark x1="81667" y1="72188" x2="75313" y2="62656"/>
                        <a14:foregroundMark x1="75313" y1="62656" x2="63438" y2="73281"/>
                        <a14:foregroundMark x1="63438" y1="73281" x2="77917" y2="74063"/>
                        <a14:foregroundMark x1="77917" y1="74063" x2="75625" y2="59375"/>
                        <a14:foregroundMark x1="75625" y1="59375" x2="67396" y2="57500"/>
                        <a14:foregroundMark x1="67396" y1="57500" x2="58438" y2="65313"/>
                        <a14:foregroundMark x1="58438" y1="65313" x2="64792" y2="82656"/>
                        <a14:foregroundMark x1="64792" y1="82656" x2="79792" y2="81875"/>
                        <a14:foregroundMark x1="79792" y1="81875" x2="82917" y2="63750"/>
                        <a14:foregroundMark x1="82917" y1="63750" x2="72604" y2="54688"/>
                        <a14:foregroundMark x1="72604" y1="54688" x2="59688" y2="57188"/>
                        <a14:foregroundMark x1="59688" y1="57188" x2="49792" y2="67813"/>
                        <a14:foregroundMark x1="49792" y1="67813" x2="56146" y2="83594"/>
                        <a14:foregroundMark x1="56146" y1="83594" x2="68021" y2="79844"/>
                        <a14:foregroundMark x1="68021" y1="79844" x2="65833" y2="55469"/>
                        <a14:foregroundMark x1="65833" y1="55469" x2="50625" y2="45000"/>
                        <a14:foregroundMark x1="50625" y1="45000" x2="33958" y2="50625"/>
                        <a14:foregroundMark x1="33958" y1="50625" x2="21250" y2="69063"/>
                        <a14:foregroundMark x1="21250" y1="69063" x2="23125" y2="81875"/>
                        <a14:foregroundMark x1="23125" y1="81875" x2="45104" y2="87188"/>
                        <a14:foregroundMark x1="45104" y1="87188" x2="66042" y2="80938"/>
                        <a14:foregroundMark x1="66042" y1="80938" x2="68854" y2="62813"/>
                        <a14:foregroundMark x1="68854" y1="62813" x2="52292" y2="63125"/>
                        <a14:foregroundMark x1="52292" y1="63125" x2="43542" y2="78438"/>
                        <a14:foregroundMark x1="43542" y1="78438" x2="62708" y2="92188"/>
                        <a14:foregroundMark x1="62708" y1="92188" x2="83333" y2="81563"/>
                        <a14:foregroundMark x1="83333" y1="81563" x2="88542" y2="70000"/>
                        <a14:foregroundMark x1="88542" y1="70000" x2="78958" y2="66250"/>
                        <a14:foregroundMark x1="78958" y1="66250" x2="75625" y2="81719"/>
                        <a14:foregroundMark x1="75625" y1="81719" x2="93750" y2="81875"/>
                        <a14:foregroundMark x1="93750" y1="81875" x2="95000" y2="62656"/>
                        <a14:foregroundMark x1="95000" y1="62656" x2="85208" y2="56719"/>
                        <a14:foregroundMark x1="85208" y1="56719" x2="76042" y2="65938"/>
                        <a14:foregroundMark x1="76042" y1="65938" x2="72396" y2="78438"/>
                        <a14:foregroundMark x1="72396" y1="78438" x2="75521" y2="77344"/>
                        <a14:foregroundMark x1="1771" y1="78594" x2="2188" y2="90938"/>
                        <a14:foregroundMark x1="2188" y1="90938" x2="11354" y2="98438"/>
                        <a14:foregroundMark x1="11354" y1="98438" x2="45625" y2="99688"/>
                        <a14:foregroundMark x1="45625" y1="99688" x2="87813" y2="99219"/>
                        <a14:foregroundMark x1="87813" y1="99219" x2="96458" y2="93125"/>
                        <a14:foregroundMark x1="96458" y1="93125" x2="87604" y2="86094"/>
                        <a14:foregroundMark x1="87604" y1="86094" x2="70625" y2="93125"/>
                        <a14:foregroundMark x1="70625" y1="93125" x2="15417" y2="92031"/>
                        <a14:foregroundMark x1="15417" y1="92031" x2="9479" y2="83750"/>
                        <a14:foregroundMark x1="9479" y1="83750" x2="3958" y2="83125"/>
                        <a14:foregroundMark x1="3646" y1="97813" x2="31146" y2="95625"/>
                        <a14:foregroundMark x1="31146" y1="95625" x2="97292" y2="97656"/>
                        <a14:foregroundMark x1="95625" y1="94063" x2="96146" y2="75000"/>
                        <a14:foregroundMark x1="97396" y1="73281" x2="97396" y2="73281"/>
                        <a14:foregroundMark x1="93125" y1="56719" x2="95000" y2="56563"/>
                        <a14:foregroundMark x1="92917" y1="56250" x2="94271" y2="57500"/>
                        <a14:foregroundMark x1="69896" y1="43438" x2="69896" y2="43438"/>
                        <a14:foregroundMark x1="70625" y1="42500" x2="70625" y2="4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562" y="4161548"/>
            <a:ext cx="2693276" cy="20994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098" name="Picture 2" descr="How Do Hospital Mergers Lower Costs, Drive Quality Improvement?">
            <a:extLst>
              <a:ext uri="{FF2B5EF4-FFF2-40B4-BE49-F238E27FC236}">
                <a16:creationId xmlns:a16="http://schemas.microsoft.com/office/drawing/2014/main" id="{031E62B8-C517-4EC9-8A12-B3640267A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128" y="4161548"/>
            <a:ext cx="2693276" cy="20994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ood Environments in the COVID-19 Pandemic">
            <a:extLst>
              <a:ext uri="{FF2B5EF4-FFF2-40B4-BE49-F238E27FC236}">
                <a16:creationId xmlns:a16="http://schemas.microsoft.com/office/drawing/2014/main" id="{BEE811F3-4DAC-4454-B1C9-B20CA1933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986" y="313043"/>
            <a:ext cx="2793051" cy="225232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878A44C1-82D3-4DE0-949F-819100063206}"/>
              </a:ext>
            </a:extLst>
          </p:cNvPr>
          <p:cNvSpPr txBox="1"/>
          <p:nvPr/>
        </p:nvSpPr>
        <p:spPr>
          <a:xfrm>
            <a:off x="448077" y="331304"/>
            <a:ext cx="3540827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bg-BG" sz="5200" b="1" dirty="0">
                <a:latin typeface="+mj-lt"/>
                <a:ea typeface="+mj-ea"/>
                <a:cs typeface="+mj-cs"/>
              </a:rPr>
              <a:t>ИДЕЯ НА ПРОЕКТА</a:t>
            </a:r>
            <a:endParaRPr lang="en-US" sz="5200" b="1" dirty="0">
              <a:latin typeface="+mj-lt"/>
              <a:ea typeface="+mj-ea"/>
              <a:cs typeface="+mj-cs"/>
            </a:endParaRPr>
          </a:p>
        </p:txBody>
      </p:sp>
      <p:cxnSp>
        <p:nvCxnSpPr>
          <p:cNvPr id="6" name="Съединител &quot;права стрелка&quot; 5">
            <a:extLst>
              <a:ext uri="{FF2B5EF4-FFF2-40B4-BE49-F238E27FC236}">
                <a16:creationId xmlns:a16="http://schemas.microsoft.com/office/drawing/2014/main" id="{82E490BA-E71D-4D74-9DC4-21CF3EAAC50A}"/>
              </a:ext>
            </a:extLst>
          </p:cNvPr>
          <p:cNvCxnSpPr>
            <a:cxnSpLocks/>
          </p:cNvCxnSpPr>
          <p:nvPr/>
        </p:nvCxnSpPr>
        <p:spPr>
          <a:xfrm>
            <a:off x="6096000" y="5211268"/>
            <a:ext cx="1722781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Съединител &quot;права стрелка&quot; 10">
            <a:extLst>
              <a:ext uri="{FF2B5EF4-FFF2-40B4-BE49-F238E27FC236}">
                <a16:creationId xmlns:a16="http://schemas.microsoft.com/office/drawing/2014/main" id="{6923DFD0-A798-4020-A23A-9D2CD0AA2E83}"/>
              </a:ext>
            </a:extLst>
          </p:cNvPr>
          <p:cNvCxnSpPr>
            <a:cxnSpLocks/>
          </p:cNvCxnSpPr>
          <p:nvPr/>
        </p:nvCxnSpPr>
        <p:spPr>
          <a:xfrm flipV="1">
            <a:off x="4755717" y="2422661"/>
            <a:ext cx="1078439" cy="1608104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Съединител &quot;права стрелка&quot; 15">
            <a:extLst>
              <a:ext uri="{FF2B5EF4-FFF2-40B4-BE49-F238E27FC236}">
                <a16:creationId xmlns:a16="http://schemas.microsoft.com/office/drawing/2014/main" id="{F58A42B6-6926-434D-8A85-88DAA706A385}"/>
              </a:ext>
            </a:extLst>
          </p:cNvPr>
          <p:cNvCxnSpPr>
            <a:cxnSpLocks/>
          </p:cNvCxnSpPr>
          <p:nvPr/>
        </p:nvCxnSpPr>
        <p:spPr>
          <a:xfrm flipH="1" flipV="1">
            <a:off x="8272511" y="2462716"/>
            <a:ext cx="1091689" cy="1608104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776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22" name="Picture 2" descr="Clipart of the hands are holding tablet free image">
            <a:extLst>
              <a:ext uri="{FF2B5EF4-FFF2-40B4-BE49-F238E27FC236}">
                <a16:creationId xmlns:a16="http://schemas.microsoft.com/office/drawing/2014/main" id="{97A28EA2-104B-49E9-9B46-EA597DB82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9" b="1903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E56142F2-38AD-4BC0-AE40-1386C2D03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672" y="768626"/>
            <a:ext cx="7270499" cy="502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60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0CFB42EE-144F-4232-8E62-D71E383F0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4353" y="457200"/>
            <a:ext cx="9323294" cy="59436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26A5DC9E-AEF1-4C74-B4EB-07B9D129D8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752061"/>
            <a:ext cx="2829339" cy="2829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0BE997CE-3961-4534-9735-0554ABFBDE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91199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10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6" name="Rectangle 70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Project controls improvement opportunities in times of coronavirus">
            <a:extLst>
              <a:ext uri="{FF2B5EF4-FFF2-40B4-BE49-F238E27FC236}">
                <a16:creationId xmlns:a16="http://schemas.microsoft.com/office/drawing/2014/main" id="{4529CA58-A97B-4BA5-9ADF-4019DA4453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/>
        </p:blipFill>
        <p:spPr bwMode="auto">
          <a:xfrm>
            <a:off x="20" y="-22"/>
            <a:ext cx="12191977" cy="685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C0B1565-56B0-4521-AE91-D929310E604A}"/>
              </a:ext>
            </a:extLst>
          </p:cNvPr>
          <p:cNvSpPr txBox="1"/>
          <p:nvPr/>
        </p:nvSpPr>
        <p:spPr>
          <a:xfrm>
            <a:off x="242831" y="328156"/>
            <a:ext cx="5452529" cy="3569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dirty="0">
                <a:latin typeface="+mj-lt"/>
                <a:ea typeface="+mj-ea"/>
                <a:cs typeface="+mj-cs"/>
              </a:rPr>
              <a:t>РАЗВИТИЕ И БЪДЕЩИ РАЗРАБОТКИ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авоъгълник 2">
            <a:extLst>
              <a:ext uri="{FF2B5EF4-FFF2-40B4-BE49-F238E27FC236}">
                <a16:creationId xmlns:a16="http://schemas.microsoft.com/office/drawing/2014/main" id="{7F5E137A-A0DE-49C6-A658-3422BF989ADB}"/>
              </a:ext>
            </a:extLst>
          </p:cNvPr>
          <p:cNvSpPr/>
          <p:nvPr/>
        </p:nvSpPr>
        <p:spPr>
          <a:xfrm>
            <a:off x="9462689" y="2002221"/>
            <a:ext cx="1399752" cy="4855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Правоъгълник 3">
            <a:extLst>
              <a:ext uri="{FF2B5EF4-FFF2-40B4-BE49-F238E27FC236}">
                <a16:creationId xmlns:a16="http://schemas.microsoft.com/office/drawing/2014/main" id="{AE6704E9-A3BC-494D-9D11-FFB0524945FC}"/>
              </a:ext>
            </a:extLst>
          </p:cNvPr>
          <p:cNvSpPr/>
          <p:nvPr/>
        </p:nvSpPr>
        <p:spPr>
          <a:xfrm>
            <a:off x="7951304" y="2941983"/>
            <a:ext cx="1399752" cy="3916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авоъгълник 5">
            <a:extLst>
              <a:ext uri="{FF2B5EF4-FFF2-40B4-BE49-F238E27FC236}">
                <a16:creationId xmlns:a16="http://schemas.microsoft.com/office/drawing/2014/main" id="{0C85489F-4C17-4B78-9B0D-74526C9298EF}"/>
              </a:ext>
            </a:extLst>
          </p:cNvPr>
          <p:cNvSpPr/>
          <p:nvPr/>
        </p:nvSpPr>
        <p:spPr>
          <a:xfrm>
            <a:off x="6427304" y="3710609"/>
            <a:ext cx="1399752" cy="3147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75AE1DAD-3C4A-4937-9C0B-F11FCC0F4F6F}"/>
              </a:ext>
            </a:extLst>
          </p:cNvPr>
          <p:cNvSpPr/>
          <p:nvPr/>
        </p:nvSpPr>
        <p:spPr>
          <a:xfrm>
            <a:off x="4870881" y="4837034"/>
            <a:ext cx="1377686" cy="2020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авоъгълник 7">
            <a:extLst>
              <a:ext uri="{FF2B5EF4-FFF2-40B4-BE49-F238E27FC236}">
                <a16:creationId xmlns:a16="http://schemas.microsoft.com/office/drawing/2014/main" id="{BACF9986-DE38-46E2-8688-ECAD22037A8A}"/>
              </a:ext>
            </a:extLst>
          </p:cNvPr>
          <p:cNvSpPr/>
          <p:nvPr/>
        </p:nvSpPr>
        <p:spPr>
          <a:xfrm>
            <a:off x="3339548" y="5214717"/>
            <a:ext cx="1407085" cy="17128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авоъгълник 8">
            <a:extLst>
              <a:ext uri="{FF2B5EF4-FFF2-40B4-BE49-F238E27FC236}">
                <a16:creationId xmlns:a16="http://schemas.microsoft.com/office/drawing/2014/main" id="{A10E27ED-1DBD-4CC7-B117-2BF048F79308}"/>
              </a:ext>
            </a:extLst>
          </p:cNvPr>
          <p:cNvSpPr/>
          <p:nvPr/>
        </p:nvSpPr>
        <p:spPr>
          <a:xfrm>
            <a:off x="1775791" y="6101632"/>
            <a:ext cx="1407085" cy="85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04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D2963E5F-E881-4277-8D31-D0D93E0AF80D}"/>
              </a:ext>
            </a:extLst>
          </p:cNvPr>
          <p:cNvSpPr txBox="1"/>
          <p:nvPr/>
        </p:nvSpPr>
        <p:spPr>
          <a:xfrm>
            <a:off x="4162567" y="818984"/>
            <a:ext cx="6714699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БЛАГОДАРИМ ЗА ВНИМАНИЕТО!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920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23</Words>
  <Application>Microsoft Office PowerPoint</Application>
  <PresentationFormat>Широк екран</PresentationFormat>
  <Paragraphs>9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на Office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Радослав Иванов</dc:creator>
  <cp:lastModifiedBy>Радослав Иванов</cp:lastModifiedBy>
  <cp:revision>14</cp:revision>
  <dcterms:created xsi:type="dcterms:W3CDTF">2021-03-26T13:20:39Z</dcterms:created>
  <dcterms:modified xsi:type="dcterms:W3CDTF">2021-03-26T21:04:12Z</dcterms:modified>
</cp:coreProperties>
</file>